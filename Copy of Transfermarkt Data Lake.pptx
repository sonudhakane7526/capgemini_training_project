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988F1BB-67BD-6EB3-F099-8366C8A9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>
            <a:extLst>
              <a:ext uri="{FF2B5EF4-FFF2-40B4-BE49-F238E27FC236}">
                <a16:creationId xmlns:a16="http://schemas.microsoft.com/office/drawing/2014/main" id="{79E134F6-DF4D-E8FC-26E5-8E1D55BC3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>
            <a:extLst>
              <a:ext uri="{FF2B5EF4-FFF2-40B4-BE49-F238E27FC236}">
                <a16:creationId xmlns:a16="http://schemas.microsoft.com/office/drawing/2014/main" id="{ADC21385-FEBF-2A19-4C5D-142821090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723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749028"/>
            <a:ext cx="800100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TRANSFERMARKT </a:t>
            </a:r>
            <a:r>
              <a:rPr lang="en-US" sz="5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LAKE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48050"/>
            <a:ext cx="7620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From Raw Data to Football Intelligence using a Scalable Medallion Architecture on AWS</a:t>
            </a:r>
            <a:endParaRPr dirty="0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04171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480417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38300" y="4804171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0200"/>
            <a:ext cx="349254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00200"/>
            <a:ext cx="349254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00200"/>
            <a:ext cx="3492549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Business Use Cases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2638425"/>
            <a:ext cx="24548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Scouting &amp; Recruitment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228975"/>
            <a:ext cx="2711499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Implementing a "Moneyball" approach to identify undervalued players through rigorous performance metrics and market value analysis.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40324" y="2638425"/>
            <a:ext cx="18591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Historical Analysis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40324" y="322897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Analyzing the evolution of game tactics, goal trends, and attendance figures over decades to spot long-term patterns.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18624" y="2638425"/>
            <a:ext cx="23395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Performance Analytics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18624" y="322897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Comparative analysis of home/away performance, squad composition, and high-stakes derby match outcomes.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0193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01930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00200"/>
            <a:ext cx="52387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Medallion Architecture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609725"/>
            <a:ext cx="5219699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57250" y="25098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🥉 Bronze (Raw Ingestion):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Direct dump of CSVs converted to Parquet (Columnar storage) for query efficiency. No schema changes.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35671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🥈 Silver (Cleansed):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Data type casting, null handling, deduplication, and standardization logic applied.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43195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🥇 Gold (Business Level):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Aggregated data modeled into a Star Schema (Facts &amp; Dimensions) ready for high-speed reporting.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479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052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5768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00200"/>
            <a:ext cx="52387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Dataset: 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Football Analysis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857250" y="1923157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500" b="0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Comprehensive relational database from </a:t>
            </a:r>
            <a:r>
              <a:rPr lang="en-US" sz="1500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Football datasets.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267563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Structure: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8 interconnected datasets covering all aspects of professional football.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3428107"/>
            <a:ext cx="4953000" cy="164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Key Tables: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521106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Volume: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Thousands of matches, players, and historical seasons.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125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137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662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24916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333500" y="3828157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Players (Demographics, Market Value)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333500" y="4150072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Games (Scores, Dates, Attendance)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333500" y="4471987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Appearances (Match stats)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333500" y="4793902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Game Events (Cards, Subs)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386625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418817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4510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48320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1653941"/>
            <a:ext cx="5622724" cy="37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2173A844-AF51-D4C6-7D2E-4D07615DA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>
            <a:extLst>
              <a:ext uri="{FF2B5EF4-FFF2-40B4-BE49-F238E27FC236}">
                <a16:creationId xmlns:a16="http://schemas.microsoft.com/office/drawing/2014/main" id="{8C9D78BA-F8EC-F91B-5D60-255C52CB62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64141" y="1949792"/>
            <a:ext cx="1385109" cy="5203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>
            <a:extLst>
              <a:ext uri="{FF2B5EF4-FFF2-40B4-BE49-F238E27FC236}">
                <a16:creationId xmlns:a16="http://schemas.microsoft.com/office/drawing/2014/main" id="{3B8E41CE-4F49-3F75-372A-092106E4F858}"/>
              </a:ext>
            </a:extLst>
          </p:cNvPr>
          <p:cNvSpPr txBox="1"/>
          <p:nvPr/>
        </p:nvSpPr>
        <p:spPr>
          <a:xfrm>
            <a:off x="171449" y="44053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Cleansing</a:t>
            </a:r>
            <a:endParaRPr dirty="0"/>
          </a:p>
        </p:txBody>
      </p: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1EFE4135-93B3-093C-1AA7-4C65394C6542}"/>
              </a:ext>
            </a:extLst>
          </p:cNvPr>
          <p:cNvSpPr txBox="1"/>
          <p:nvPr/>
        </p:nvSpPr>
        <p:spPr>
          <a:xfrm>
            <a:off x="524576" y="1665684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 </a:t>
            </a:r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Cleaned data to ensure </a:t>
            </a:r>
            <a:r>
              <a:rPr lang="en-US" sz="15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correct reports and reliable analysis</a:t>
            </a:r>
            <a:endParaRPr sz="15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42D4E7A1-9351-B206-F8A5-E561A81623C2}"/>
              </a:ext>
            </a:extLst>
          </p:cNvPr>
          <p:cNvSpPr txBox="1"/>
          <p:nvPr/>
        </p:nvSpPr>
        <p:spPr>
          <a:xfrm>
            <a:off x="457199" y="4551533"/>
            <a:ext cx="4953000" cy="1842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3333"/>
              </a:lnSpc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 </a:t>
            </a:r>
            <a:r>
              <a:rPr lang="en-US" sz="15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Outcomes</a:t>
            </a:r>
          </a:p>
          <a:p>
            <a:pPr lvl="0">
              <a:lnSpc>
                <a:spcPct val="133333"/>
              </a:lnSpc>
            </a:pPr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Clean, consistent data stored in Silver Layer </a:t>
            </a:r>
          </a:p>
          <a:p>
            <a:pPr lvl="0">
              <a:lnSpc>
                <a:spcPct val="133333"/>
              </a:lnSpc>
            </a:pPr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Ready for Galaxy Schema modeling and Gold Layer reports </a:t>
            </a:r>
          </a:p>
          <a:p>
            <a:pPr lvl="0">
              <a:lnSpc>
                <a:spcPct val="133333"/>
              </a:lnSpc>
            </a:pPr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Supports 10+ business insights (Top Scorers, Season Trends, Player Performance)</a:t>
            </a:r>
            <a:endParaRPr sz="15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57" name="Google Shape;157;p17" descr="image.png">
            <a:extLst>
              <a:ext uri="{FF2B5EF4-FFF2-40B4-BE49-F238E27FC236}">
                <a16:creationId xmlns:a16="http://schemas.microsoft.com/office/drawing/2014/main" id="{AA89E4F7-6C30-E267-5584-B90056B0F0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802" y="26365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>
            <a:extLst>
              <a:ext uri="{FF2B5EF4-FFF2-40B4-BE49-F238E27FC236}">
                <a16:creationId xmlns:a16="http://schemas.microsoft.com/office/drawing/2014/main" id="{048441A8-0220-E0DD-3C1A-8E5E92B928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802" y="145833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>
            <a:extLst>
              <a:ext uri="{FF2B5EF4-FFF2-40B4-BE49-F238E27FC236}">
                <a16:creationId xmlns:a16="http://schemas.microsoft.com/office/drawing/2014/main" id="{C2841751-F090-02D6-F606-264597F6F0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49" y="464213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E1905E-91F0-1B67-1D95-F764A7A80D6F}"/>
              </a:ext>
            </a:extLst>
          </p:cNvPr>
          <p:cNvSpPr txBox="1"/>
          <p:nvPr/>
        </p:nvSpPr>
        <p:spPr>
          <a:xfrm>
            <a:off x="457199" y="2570796"/>
            <a:ext cx="65788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Actions</a:t>
            </a:r>
          </a:p>
          <a:p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Fixed missing values and nulls</a:t>
            </a:r>
          </a:p>
          <a:p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Removed duplicate records</a:t>
            </a:r>
          </a:p>
          <a:p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Standardized dates, numbers, and names</a:t>
            </a:r>
          </a:p>
          <a:p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Added calculated fields like full name and age</a:t>
            </a:r>
          </a:p>
          <a:p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✔ Checked links between players, clubs, competitions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FA969-B7CD-9F93-FCA3-781FED807730}"/>
              </a:ext>
            </a:extLst>
          </p:cNvPr>
          <p:cNvSpPr txBox="1"/>
          <p:nvPr/>
        </p:nvSpPr>
        <p:spPr>
          <a:xfrm>
            <a:off x="457199" y="1394936"/>
            <a:ext cx="657886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Objective</a:t>
            </a:r>
            <a:endParaRPr lang="en-IN" sz="1500" b="1" dirty="0"/>
          </a:p>
        </p:txBody>
      </p:sp>
      <p:pic>
        <p:nvPicPr>
          <p:cNvPr id="2050" name="Picture 2" descr="Data Cleansing stock image. Image of concept, presentation - 85717335">
            <a:extLst>
              <a:ext uri="{FF2B5EF4-FFF2-40B4-BE49-F238E27FC236}">
                <a16:creationId xmlns:a16="http://schemas.microsoft.com/office/drawing/2014/main" id="{40D2E2C4-112B-2FED-E5A9-DD1A4E1D6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055" y="1394936"/>
            <a:ext cx="5444844" cy="4437548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271782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64141" y="1949792"/>
            <a:ext cx="1385109" cy="5203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71449" y="44053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Dimensional Modeling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71449" y="1390650"/>
            <a:ext cx="52387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I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Designed a </a:t>
            </a:r>
            <a:r>
              <a:rPr lang="en-IN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Galaxy Schema</a:t>
            </a:r>
            <a:r>
              <a:rPr lang="en-I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for faster OLAP reporting and better analysis :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471488" y="2200798"/>
            <a:ext cx="4826547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Dimension Tables:</a:t>
            </a:r>
            <a:r>
              <a:rPr lang="en-US" sz="1500" b="0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DIM_PLAYER, DIM_COMPETITION, DIM_CLUB, DIM_DATE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471488" y="3411938"/>
            <a:ext cx="49530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3333"/>
              </a:lnSpc>
            </a:pPr>
            <a:r>
              <a:rPr lang="en-US" sz="1500" b="1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Fact Tables:</a:t>
            </a:r>
            <a:r>
              <a:rPr lang="en-US" sz="1500" b="0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FACT_PLAYER_APPEARANCE (Stats), </a:t>
            </a:r>
            <a:r>
              <a:rPr lang="en-US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FACT_GAME (Results) and FACT_CLUB_PERFORMANCE.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444268" y="4631021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Outcome:</a:t>
            </a:r>
            <a:r>
              <a:rPr lang="en-US" sz="1500" b="0" i="0" u="none" strike="noStrike" cap="none" dirty="0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10+ Pre-calculated business reports ready for visualization (e.g., Top Scorers, Season Trends, etc..).</a:t>
            </a:r>
            <a:endParaRPr dirty="0"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805" y="228957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805" y="34795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585" y="476726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 close-up of a diagram">
            <a:extLst>
              <a:ext uri="{FF2B5EF4-FFF2-40B4-BE49-F238E27FC236}">
                <a16:creationId xmlns:a16="http://schemas.microsoft.com/office/drawing/2014/main" id="{B5811ECB-57EC-8E00-5CA1-29C597AC7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268" y="1447799"/>
            <a:ext cx="6695499" cy="523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Infrastructure on AWS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16764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Storage (Data Lake)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0859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Amazon S3: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Segregated buckets for raw, bronze, silver, and gold layers.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28860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Compute (Serverless ETL)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32956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AWS Glue: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Serverless Spark environment for heavy transformations.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40957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Orchestration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45053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Amazon EC2: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Hosting Dockerized Airflow for pipeline management.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3054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Querying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7150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Athena: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SQL access to S3 files.</a:t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8100" y="925975"/>
            <a:ext cx="5006049" cy="500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943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4600" y="3943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12800" y="3943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1001" y="3943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Pipeline Orchestration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4133850"/>
            <a:ext cx="11049000" cy="190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26243" y="4514850"/>
            <a:ext cx="25003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Ingestion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85775" y="4895850"/>
            <a:ext cx="2381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Bucket checks &amp; Upload raw data to S3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3188493" y="4514850"/>
            <a:ext cx="25003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Raw → Bronze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3248025" y="4895850"/>
            <a:ext cx="2381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Format conversion to Parquet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950743" y="4514850"/>
            <a:ext cx="25003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Bronze → Silver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010275" y="4895850"/>
            <a:ext cx="2381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Cleaning, De-duping &amp; Logic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712993" y="4514850"/>
            <a:ext cx="25003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Silver → Gold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772525" y="4895850"/>
            <a:ext cx="2381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Star Schema &amp; Crawler Update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00200"/>
            <a:ext cx="52387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Engineering Challenges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609725"/>
            <a:ext cx="52197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857250" y="26574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Schema Evolution: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Automatically handling data drift between different seasons of data.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57250" y="3409950"/>
            <a:ext cx="49530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Ambiguity Handling: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Implemented smart_join logic to resolve duplicate column names during complex multi-table joins (e.g., Games + Appearances).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57250" y="44767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Data Quality: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rigorous null handling for string columns and standardization of date formats across datasets.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955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48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1485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76200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Visualization &amp; Insights</a:t>
            </a:r>
            <a:endParaRPr/>
          </a:p>
        </p:txBody>
      </p:sp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2519362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Tools: QuickSight &amp; Athena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302418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Leveraging Amazon QuickSight for interactive dashboards and Athena for ad-hoc SQL analysis.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3824287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Dashboards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57250" y="4138612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Global Overview: Goal trends &amp; Heatmaps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57250" y="4538662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Discipline: "Bad Boys" Tree Map &amp; Red Cards</a:t>
            </a:r>
            <a:endParaRPr/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67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57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767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9581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0200"/>
            <a:ext cx="52387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00200"/>
            <a:ext cx="52387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Summary &amp; Future Scope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62025" y="2638425"/>
            <a:ext cx="46805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Achievements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72275" y="2638425"/>
            <a:ext cx="46805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Enhancements</a:t>
            </a:r>
            <a:endParaRPr/>
          </a:p>
        </p:txBody>
      </p:sp>
      <p:pic>
        <p:nvPicPr>
          <p:cNvPr id="234" name="Google Shape;23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193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247775" y="285750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Fully automated, "one-click" deployable pipeline.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247775" y="330517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Scalable serverless architecture (Zero maintenance).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247775" y="405765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Cost-effective (Glue runs only on demand).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0193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7058025" y="285750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Streaming: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Ingest live match data using Kinesis.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058025" y="330517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Machine Learning: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Predict match outcomes using historical data.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058025" y="405765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CI/CD: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Integrate GitHub Actions for deployment.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28956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343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0957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28956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343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09575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295275" y="2400300"/>
            <a:ext cx="116014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 dirty="0"/>
          </a:p>
        </p:txBody>
      </p:sp>
      <p:sp>
        <p:nvSpPr>
          <p:cNvPr id="254" name="Google Shape;254;p23"/>
          <p:cNvSpPr txBox="1"/>
          <p:nvPr/>
        </p:nvSpPr>
        <p:spPr>
          <a:xfrm>
            <a:off x="571500" y="39624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646</Words>
  <Application>Microsoft Office PowerPoint</Application>
  <PresentationFormat>Widescreen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Atmaram Dhakane, Vikas</cp:lastModifiedBy>
  <cp:revision>3</cp:revision>
  <dcterms:modified xsi:type="dcterms:W3CDTF">2025-11-23T08:25:22Z</dcterms:modified>
</cp:coreProperties>
</file>